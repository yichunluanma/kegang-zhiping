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043a8a724847d4" /><Relationship Type="http://schemas.openxmlformats.org/officeDocument/2006/relationships/extended-properties" Target="/docProps/app.xml" Id="Rf41722d1c3a542c5" /><Relationship Type="http://schemas.openxmlformats.org/officeDocument/2006/relationships/officeDocument" Target="/ppt/presentation.xml" Id="R64eac55f9dbc45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a8f1b5826f4c84"/>
  </p:sldMasterIdLst>
  <p:notesMasterIdLst>
    <p:notesMasterId xmlns:r="http://schemas.openxmlformats.org/officeDocument/2006/relationships" r:id="Rdde521807c564b20"/>
  </p:notesMasterIdLst>
  <p:sldIdLst>
    <p:sldId xmlns:r="http://schemas.openxmlformats.org/officeDocument/2006/relationships" id="256" r:id="R403f022e07ce4056"/>
    <p:sldId xmlns:r="http://schemas.openxmlformats.org/officeDocument/2006/relationships" id="257" r:id="R8b8263577b0845fc"/>
    <p:sldId xmlns:r="http://schemas.openxmlformats.org/officeDocument/2006/relationships" id="258" r:id="R877a6973bfb14dc0"/>
    <p:sldId xmlns:r="http://schemas.openxmlformats.org/officeDocument/2006/relationships" id="259" r:id="Rffad103d3c8f4ae0"/>
    <p:sldId xmlns:r="http://schemas.openxmlformats.org/officeDocument/2006/relationships" id="260" r:id="Rfb6af14b11104863"/>
    <p:sldId xmlns:r="http://schemas.openxmlformats.org/officeDocument/2006/relationships" id="261" r:id="R5ee1fbca3f194c5e"/>
    <p:sldId xmlns:r="http://schemas.openxmlformats.org/officeDocument/2006/relationships" id="262" r:id="R2ccc1f4245154732"/>
    <p:sldId xmlns:r="http://schemas.openxmlformats.org/officeDocument/2006/relationships" id="263" r:id="Ra741b03b346045a1"/>
    <p:sldId xmlns:r="http://schemas.openxmlformats.org/officeDocument/2006/relationships" id="264" r:id="R5804f43eef9f444f"/>
    <p:sldId xmlns:r="http://schemas.openxmlformats.org/officeDocument/2006/relationships" id="265" r:id="R7be18592ed164a89"/>
    <p:sldId xmlns:r="http://schemas.openxmlformats.org/officeDocument/2006/relationships" id="266" r:id="Ra4ebf7c2ebe14a0b"/>
    <p:sldId xmlns:r="http://schemas.openxmlformats.org/officeDocument/2006/relationships" id="267" r:id="R10648e99eba7422f"/>
    <p:sldId xmlns:r="http://schemas.openxmlformats.org/officeDocument/2006/relationships" id="268" r:id="Rad4545bd632c475c"/>
    <p:sldId xmlns:r="http://schemas.openxmlformats.org/officeDocument/2006/relationships" id="269" r:id="Rc72f743cb89e4f44"/>
    <p:sldId xmlns:r="http://schemas.openxmlformats.org/officeDocument/2006/relationships" id="270" r:id="R90c321bcc18c48b2"/>
    <p:sldId xmlns:r="http://schemas.openxmlformats.org/officeDocument/2006/relationships" id="271" r:id="Rca36278e25084b3a"/>
    <p:sldId xmlns:r="http://schemas.openxmlformats.org/officeDocument/2006/relationships" id="272" r:id="R7618b910289c489d"/>
    <p:sldId xmlns:r="http://schemas.openxmlformats.org/officeDocument/2006/relationships" id="273" r:id="R4e536ffe4f114422"/>
    <p:sldId xmlns:r="http://schemas.openxmlformats.org/officeDocument/2006/relationships" id="274" r:id="Re6eeeeaaaac14bf3"/>
    <p:sldId xmlns:r="http://schemas.openxmlformats.org/officeDocument/2006/relationships" id="275" r:id="R8bcd263eabc64af1"/>
    <p:sldId xmlns:r="http://schemas.openxmlformats.org/officeDocument/2006/relationships" id="276" r:id="R77eeb78df12c4c47"/>
    <p:sldId xmlns:r="http://schemas.openxmlformats.org/officeDocument/2006/relationships" id="277" r:id="R54c1c4b9a93d4e4a"/>
    <p:sldId xmlns:r="http://schemas.openxmlformats.org/officeDocument/2006/relationships" id="278" r:id="R7f29bdc798f44c61"/>
    <p:sldId xmlns:r="http://schemas.openxmlformats.org/officeDocument/2006/relationships" id="279" r:id="Ra0456457c48046af"/>
    <p:sldId xmlns:r="http://schemas.openxmlformats.org/officeDocument/2006/relationships" id="280" r:id="Re17060b34daf40e0"/>
    <p:sldId xmlns:r="http://schemas.openxmlformats.org/officeDocument/2006/relationships" id="281" r:id="R404ed6ba4e384cb9"/>
    <p:sldId xmlns:r="http://schemas.openxmlformats.org/officeDocument/2006/relationships" id="282" r:id="Rfe6193e2b4204a7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e00fbc437448bc" /><Relationship Type="http://schemas.openxmlformats.org/officeDocument/2006/relationships/slideMaster" Target="/ppt/slideMasters/slideMaster1.xml" Id="R7ea8f1b5826f4c84" /><Relationship Type="http://schemas.openxmlformats.org/officeDocument/2006/relationships/notesMaster" Target="/ppt/notesMasters/notesMaster1.xml" Id="Rdde521807c564b20" /><Relationship Type="http://schemas.openxmlformats.org/officeDocument/2006/relationships/presProps" Target="/ppt/presProps.xml" Id="R5c09a262e84d4cfc" /><Relationship Type="http://schemas.openxmlformats.org/officeDocument/2006/relationships/tableStyles" Target="/ppt/tableStyles.xml" Id="Rd6b3dbc5d9cf41f0" /><Relationship Type="http://schemas.openxmlformats.org/officeDocument/2006/relationships/slide" Target="/ppt/slides/slide1.xml" Id="R403f022e07ce4056" /><Relationship Type="http://schemas.openxmlformats.org/officeDocument/2006/relationships/slide" Target="/ppt/slides/slide2.xml" Id="R8b8263577b0845fc" /><Relationship Type="http://schemas.openxmlformats.org/officeDocument/2006/relationships/slide" Target="/ppt/slides/slide3.xml" Id="R877a6973bfb14dc0" /><Relationship Type="http://schemas.openxmlformats.org/officeDocument/2006/relationships/slide" Target="/ppt/slides/slide4.xml" Id="Rffad103d3c8f4ae0" /><Relationship Type="http://schemas.openxmlformats.org/officeDocument/2006/relationships/slide" Target="/ppt/slides/slide5.xml" Id="Rfb6af14b11104863" /><Relationship Type="http://schemas.openxmlformats.org/officeDocument/2006/relationships/slide" Target="/ppt/slides/slide6.xml" Id="R5ee1fbca3f194c5e" /><Relationship Type="http://schemas.openxmlformats.org/officeDocument/2006/relationships/slide" Target="/ppt/slides/slide7.xml" Id="R2ccc1f4245154732" /><Relationship Type="http://schemas.openxmlformats.org/officeDocument/2006/relationships/slide" Target="/ppt/slides/slide8.xml" Id="Ra741b03b346045a1" /><Relationship Type="http://schemas.openxmlformats.org/officeDocument/2006/relationships/slide" Target="/ppt/slides/slide9.xml" Id="R5804f43eef9f444f" /><Relationship Type="http://schemas.openxmlformats.org/officeDocument/2006/relationships/slide" Target="/ppt/slides/slide10.xml" Id="R7be18592ed164a89" /><Relationship Type="http://schemas.openxmlformats.org/officeDocument/2006/relationships/slide" Target="/ppt/slides/slide11.xml" Id="Ra4ebf7c2ebe14a0b" /><Relationship Type="http://schemas.openxmlformats.org/officeDocument/2006/relationships/slide" Target="/ppt/slides/slide12.xml" Id="R10648e99eba7422f" /><Relationship Type="http://schemas.openxmlformats.org/officeDocument/2006/relationships/slide" Target="/ppt/slides/slide13.xml" Id="Rad4545bd632c475c" /><Relationship Type="http://schemas.openxmlformats.org/officeDocument/2006/relationships/slide" Target="/ppt/slides/slide14.xml" Id="Rc72f743cb89e4f44" /><Relationship Type="http://schemas.openxmlformats.org/officeDocument/2006/relationships/slide" Target="/ppt/slides/slide15.xml" Id="R90c321bcc18c48b2" /><Relationship Type="http://schemas.openxmlformats.org/officeDocument/2006/relationships/slide" Target="/ppt/slides/slide16.xml" Id="Rca36278e25084b3a" /><Relationship Type="http://schemas.openxmlformats.org/officeDocument/2006/relationships/slide" Target="/ppt/slides/slide17.xml" Id="R7618b910289c489d" /><Relationship Type="http://schemas.openxmlformats.org/officeDocument/2006/relationships/slide" Target="/ppt/slides/slide18.xml" Id="R4e536ffe4f114422" /><Relationship Type="http://schemas.openxmlformats.org/officeDocument/2006/relationships/slide" Target="/ppt/slides/slide19.xml" Id="Re6eeeeaaaac14bf3" /><Relationship Type="http://schemas.openxmlformats.org/officeDocument/2006/relationships/slide" Target="/ppt/slides/slide20.xml" Id="R8bcd263eabc64af1" /><Relationship Type="http://schemas.openxmlformats.org/officeDocument/2006/relationships/slide" Target="/ppt/slides/slide21.xml" Id="R77eeb78df12c4c47" /><Relationship Type="http://schemas.openxmlformats.org/officeDocument/2006/relationships/slide" Target="/ppt/slides/slide22.xml" Id="R54c1c4b9a93d4e4a" /><Relationship Type="http://schemas.openxmlformats.org/officeDocument/2006/relationships/slide" Target="/ppt/slides/slide23.xml" Id="R7f29bdc798f44c61" /><Relationship Type="http://schemas.openxmlformats.org/officeDocument/2006/relationships/slide" Target="/ppt/slides/slide24.xml" Id="Ra0456457c48046af" /><Relationship Type="http://schemas.openxmlformats.org/officeDocument/2006/relationships/slide" Target="/ppt/slides/slide25.xml" Id="Re17060b34daf40e0" /><Relationship Type="http://schemas.openxmlformats.org/officeDocument/2006/relationships/slide" Target="/ppt/slides/slide26.xml" Id="R404ed6ba4e384cb9" /><Relationship Type="http://schemas.openxmlformats.org/officeDocument/2006/relationships/slide" Target="/ppt/slides/slide27.xml" Id="Rfe6193e2b4204a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e71d399f714d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602a5235904c34" /><Relationship Type="http://schemas.openxmlformats.org/officeDocument/2006/relationships/notesMaster" Target="/ppt/notesMasters/notesMaster1.xml" Id="Re0a938e9dbef49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cde5cd43cb49e1" /><Relationship Type="http://schemas.openxmlformats.org/officeDocument/2006/relationships/notesMaster" Target="/ppt/notesMasters/notesMaster1.xml" Id="R54d81aba094e42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c70163ffa343fd" /><Relationship Type="http://schemas.openxmlformats.org/officeDocument/2006/relationships/notesMaster" Target="/ppt/notesMasters/notesMaster1.xml" Id="Rf109de514afe44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5cf992aab9475f" /><Relationship Type="http://schemas.openxmlformats.org/officeDocument/2006/relationships/notesMaster" Target="/ppt/notesMasters/notesMaster1.xml" Id="Rec45936bdfa643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d205f2e3cd4c66" /><Relationship Type="http://schemas.openxmlformats.org/officeDocument/2006/relationships/notesMaster" Target="/ppt/notesMasters/notesMaster1.xml" Id="R3bd287ef131a43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b8db4f4c264863" /><Relationship Type="http://schemas.openxmlformats.org/officeDocument/2006/relationships/notesMaster" Target="/ppt/notesMasters/notesMaster1.xml" Id="R7cf52f79ac6b45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09b75cf73541b8" /><Relationship Type="http://schemas.openxmlformats.org/officeDocument/2006/relationships/notesMaster" Target="/ppt/notesMasters/notesMaster1.xml" Id="R75728793d37d45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950967291545e0" /><Relationship Type="http://schemas.openxmlformats.org/officeDocument/2006/relationships/notesMaster" Target="/ppt/notesMasters/notesMaster1.xml" Id="R2f518c0e264e48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bad285dbbc45a7" /><Relationship Type="http://schemas.openxmlformats.org/officeDocument/2006/relationships/notesMaster" Target="/ppt/notesMasters/notesMaster1.xml" Id="R7b326fbbe47c4a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5ce560796f44fe" /><Relationship Type="http://schemas.openxmlformats.org/officeDocument/2006/relationships/notesMaster" Target="/ppt/notesMasters/notesMaster1.xml" Id="Radbc9c9121924c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53412f7a894e5e" /><Relationship Type="http://schemas.openxmlformats.org/officeDocument/2006/relationships/notesMaster" Target="/ppt/notesMasters/notesMaster1.xml" Id="Rf83f62e4892b4d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1de1b5931f4c76" /><Relationship Type="http://schemas.openxmlformats.org/officeDocument/2006/relationships/notesMaster" Target="/ppt/notesMasters/notesMaster1.xml" Id="R2a4279c1f0e740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ca97df921b4160" /><Relationship Type="http://schemas.openxmlformats.org/officeDocument/2006/relationships/notesMaster" Target="/ppt/notesMasters/notesMaster1.xml" Id="R18470179e21c45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55948cdcab49b3" /><Relationship Type="http://schemas.openxmlformats.org/officeDocument/2006/relationships/notesMaster" Target="/ppt/notesMasters/notesMaster1.xml" Id="Rddddece0956246f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cb9becf78e4c53" /><Relationship Type="http://schemas.openxmlformats.org/officeDocument/2006/relationships/notesMaster" Target="/ppt/notesMasters/notesMaster1.xml" Id="Rd88ae4975fcd4d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99e1445577f4123" /><Relationship Type="http://schemas.openxmlformats.org/officeDocument/2006/relationships/notesMaster" Target="/ppt/notesMasters/notesMaster1.xml" Id="Rb35efda2d4764f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c3df3f1468f47c6" /><Relationship Type="http://schemas.openxmlformats.org/officeDocument/2006/relationships/notesMaster" Target="/ppt/notesMasters/notesMaster1.xml" Id="R7dff90a274d844b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958a2bcb2c84431" /><Relationship Type="http://schemas.openxmlformats.org/officeDocument/2006/relationships/notesMaster" Target="/ppt/notesMasters/notesMaster1.xml" Id="R0f2e49adb9ae49d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b1e22e93b4246bc" /><Relationship Type="http://schemas.openxmlformats.org/officeDocument/2006/relationships/notesMaster" Target="/ppt/notesMasters/notesMaster1.xml" Id="R7fa6a5b6ab8f481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ae81c96d8634cfb" /><Relationship Type="http://schemas.openxmlformats.org/officeDocument/2006/relationships/notesMaster" Target="/ppt/notesMasters/notesMaster1.xml" Id="Rcf1a43a4c70c4cd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a81e00a32d048ed" /><Relationship Type="http://schemas.openxmlformats.org/officeDocument/2006/relationships/notesMaster" Target="/ppt/notesMasters/notesMaster1.xml" Id="R596c5f49f1c245f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e6ff75a74b5495f" /><Relationship Type="http://schemas.openxmlformats.org/officeDocument/2006/relationships/notesMaster" Target="/ppt/notesMasters/notesMaster1.xml" Id="R2ccb86be1e43435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3643894edcd4e81" /><Relationship Type="http://schemas.openxmlformats.org/officeDocument/2006/relationships/notesMaster" Target="/ppt/notesMasters/notesMaster1.xml" Id="R46fdb82205f549c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66ed9505b6c4697" /><Relationship Type="http://schemas.openxmlformats.org/officeDocument/2006/relationships/notesMaster" Target="/ppt/notesMasters/notesMaster1.xml" Id="R040442d5d0ca484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138825c765e4a03" /><Relationship Type="http://schemas.openxmlformats.org/officeDocument/2006/relationships/notesMaster" Target="/ppt/notesMasters/notesMaster1.xml" Id="R6e23e798a22047a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a20ac94702e484b" /><Relationship Type="http://schemas.openxmlformats.org/officeDocument/2006/relationships/notesMaster" Target="/ppt/notesMasters/notesMaster1.xml" Id="R759707729b094a5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3ae26ad34ae4311" /><Relationship Type="http://schemas.openxmlformats.org/officeDocument/2006/relationships/notesMaster" Target="/ppt/notesMasters/notesMaster1.xml" Id="R546d6684f95040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课纲智评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从教学大纲到可复核的测评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v0.2.0 · 教师操作 / 学生作答 / 结果复核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2026年10月 · 本地模板演示版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来源：本项目源码、复现指南及用户提供的赛事原文。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第一次使用：启动与登录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① 双击根目录“启动课纲智评.cmd”，等待浏览器打开。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默认地址：http://127.0.0.1:3210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本地演示密码：teacher-demo-2026。首次生成蓝图时也会提示登录。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④ 使用完毕双击“停止课纲智评.cmd”。关浏览器不会停止服务。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这些截图来自隔离验收环境，截图中端口为3211；日常启动默认3210。系统无需PowerShell启动脚本。仅源码首次运行需联网安装依赖；离线包已含依赖，但仍需Node.js。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来源：本项目源码、复现指南及用户提供的赛事原文。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先用一份示例跑通全过程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 输入大纲与考核要求 → 确认教学目标、题型和分值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 生成试卷 → 审核题目、答案与简答评分标准 → 发布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 学生作答 → 教师确认简答分值 → 查看学情与补练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模板模式仅覆盖内置“分类模型评价”课程。真实模型按你的安排稍后配置。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截图和分数均为自动化演示数据，不代表真实教师试用、学生能力测量或真实模型效果。原始截图在本说明书同目录的操作截图文件夹。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来源：本项目源码、复现指南及用户提供的赛事原文。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  认识教师工作台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左侧选择新建测评、我的测评、答卷与学情。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上方三步显示当前进度。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首页直接填写大纲和考核要求，点击“生成考核蓝图”。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右上角始终显示运行模式。尚未登录时，系统先打开登录框，成功后接续原来的生成操作。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截图来源：D:/Document/ChuanZhiBei/09-使用说明/操作截图/01-教师工作台.png（本机真实操作；隔离数据库中的自动化演示）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  导入或粘贴课程大纲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点击“加载示例”，可恢复内置课程。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点击“导入TXT / MD”，选择UTF-8文本文件。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示例在07-课程样例目录。检查导入后的文字，再填写考核要求。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模板模式请使用内置示例。其他课程需要真实模型；导入文件不会自动理解任意课程。输入在当前标签页暂存，刷新可恢复。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截图来源：D:/Document/ChuanZhiBei/09-使用说明/操作截图/02-大纲导入.png（本机真实操作；隔离数据库中的自动化演示）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  教师登录后继续生成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输入教师密码，点击“进入工作台”。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本地演示密码已在页面提示。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登录成功后自动生成蓝图。密码不正确时在弹窗中修改后重试。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若本机.env修改过TEACHER_PASSWORD，以自己的配置为准。重启服务后可能需要重新登录。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截图来源：D:/Document/ChuanZhiBei/09-使用说明/操作截图/03-教师登录.png（本机真实操作；隔离数据库中的自动化演示）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  核对题型、题数和总分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可修改测评标题、总分，以及每行题型、题数、单题分值。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每行选择教学目标与认知层次。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确认小计之和等于总分，再点击“生成试卷”。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默认示例为9题100分：4道单选40分，2道判断10分，2道计算30分，1道简答20分。可添加或删除计划；演示题库只支持既有题型与目标组合。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截图来源：D:/Document/ChuanZhiBei/09-使用说明/操作截图/04-考核蓝图.png（本机真实操作；隔离数据库中的自动化演示）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05  检查目标与原文依据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点击“查看与编辑教学目标及原文依据”。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目标名称可以修改；下方显示对应的大纲依据。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修改后检查各题型计划的目标映射，再收起此区域。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依据用于帮助教师核查来源，不等于系统已经完成教学有效性论证。当前示例覆盖概念辨析、指标计算、职业情境选择、业务影响分析。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截图来源：D:/Document/ChuanZhiBei/09-使用说明/操作截图/05-目标与原文.png（本机真实操作；隔离数据库中的自动化演示）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06  分值不一致时怎样修正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截图把一行单题分值从10改成11，使合计变成102分。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将该行改回10，或合理调整其他行，让计划合计与目标总分一致。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再次点击“生成试卷”，无需重填大纲。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这是一张真实错误校验截图。高级选项中的复现种子用于模板模式；相同输入和种子可复现模板题目，不代表真实模型逐字可复现。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截图来源：D:/Document/ChuanZhiBei/09-使用说明/操作截图/06-分值校验.png（本机真实操作；隔离数据库中的自动化演示）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07  逐题审核，按题号定位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右侧题号快速跳到对应题目。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检查题干、目标、分值、公式、参考答案和解析。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点击题目旁“编辑”，修改后保存。生成试卷已保存在本机。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编辑后的保存会再次校验。草稿修改不会改变此前已经发布的试卷快照；需要修改学生看到的卷子时，请审核后重新发布并使用新链接。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截图来源：D:/Document/ChuanZhiBei/09-使用说明/操作截图/07-试卷审核.png（本机真实操作；隔离数据库中的自动化演示）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08  审核公式与参考答案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LaTeX由本地KaTeX渲染，离线也可显示。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编辑公式时不需要外层美元符号。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非法公式会阻止保存。修改正确后可继续保存。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数值题请核查题干中的TP、FP、FN、TN与参考答案一致。学生数值输入支持小数、分数和百分数，按题目的绝对误差容限评分。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截图来源：D:/Document/ChuanZhiBei/09-使用说明/操作截图/08-公式与答案.png（本机真实操作；隔离数据库中的自动化演示）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09  用表格填写简答评分标准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每行写一个明确的评分要点。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匹配关键词用中文或英文逗号分隔。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各行分值合计须等于本题分值。向下滚动后点击保存。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示例三行6+6+8=20分。关键词只产生建议分，不能理解否定、推理质量或同义表达；实际分数仍由教师复核。编辑窗口可以纵向滚动。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截图来源：D:/Document/ChuanZhiBei/09-使用说明/操作截图/09-简答评分标准.png（本机真实操作；隔离数据库中的自动化演示）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  确认审核，再发布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点击“审核并发布”。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检查本次试卷信息，勾选审核确认。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点击发布按钮，生成独立的学生试卷快照。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发布后的链接对应当时的题目和答案快照。后续编辑原草稿不回写旧快照。请在发布前特别检查答案、分值与简答标准。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截图来源：D:/Document/ChuanZhiBei/09-使用说明/操作截图/10-发布确认.png（本机真实操作；隔离数据库中的自动化演示）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  打开学生作答链接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从发布结果中打开学生页面，或复制链接。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也可点击进入学情页面，之后从那里打开学生页。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127.0.0.1只指向当前电脑；直接把链接发到另一台设备无法访问。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截图是端口3211的隔离验收实例，日常启动默认端口3210。跨电脑教学使用需要另行部署与验证访问权限。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截图来源：D:/Document/ChuanZhiBei/09-使用说明/操作截图/11-学生链接.png（本机真实操作；隔离数据库中的自动化演示）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  学生填写昵称并作答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打开学生链接，填写演示昵称。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单选、判断直接选择；计算题输入数值；简答题输入文字。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页面底部显示已答题数，便于检查漏答。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演示时请使用虚构昵称，不需要录入真实身份信息。学生端接口已验证不返回标准答案。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截图来源：D:/Document/ChuanZhiBei/09-使用说明/操作截图/12-学生作答.png（本机真实操作；隔离数据库中的自动化演示）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  提交前检查全部题目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逐题完成后，检查已答题数。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本浏览器会暂存本份未提交答卷；刷新后可继续。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确认无遗漏，再点击底部提交按钮。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截图是一份预设演示答卷：一题计算故意答错，简答题待教师确认。暂存不等同于已提交，请以提交成功页面为准。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截图来源：D:/Document/ChuanZhiBei/09-使用说明/操作截图/13-完成作答.png（本机真实操作；隔离数据库中的自动化演示）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  看到“答卷已提交”才算完成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页面显示提交结果。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客观题按规则评分；包含简答题时会提示等待教师复核。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未复核的简答分不应当作最终成绩。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自动建议分与教师确认分不同。演示截图不反映真实学生表现，也不证明评分系统理解完整语义。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截图来源：D:/Document/ChuanZhiBei/09-使用说明/操作截图/14-提交结果.png（本机真实操作；隔离数据库中的自动化演示）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  教师查看待复核答卷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从下拉框选择已发布的测评。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学生提交后点击“刷新数据”。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查看“待复核”数量，点击答卷行的“查看答卷”。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已确认均分只统计完成教师复核的答卷。尚无完成复核的答卷时显示横线，不把待复核分数混入均值。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截图来源：D:/Document/ChuanZhiBei/09-使用说明/操作截图/15-待复核报告.png（本机真实操作；隔离数据库中的自动化演示）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  结合学生推理确认简答分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向下找到简答题，阅读学生作答、评分要点及参考答案。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在“教师确认分值”中填写得分，示例输入18分。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点击答卷底部“保存教师复核”。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若关键词出现但含义相反、推理错误，教师应调整建议分。最终分数必须在0至该题满分之间。截图中的18分是人为设定的演示复核结果。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截图来源：D:/Document/ChuanZhiBei/09-使用说明/操作截图/16-教师复核.png（本机真实操作；隔离数据库中的自动化演示）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17  查看确认后的学情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确认“待复核”减少，状态变为“已完成”。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查看已确认均分和各知识点得分。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这些指标描述本次试卷表现，不等同于经过校准的能力测量。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示例为客观题65分，加简答教师确认18分，总计83分。自动化同时验证了报告接口与CSV导出的分数。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截图来源：D:/Document/ChuanZhiBei/09-使用说明/操作截图/17-确认后学情.png（本机真实操作；隔离数据库中的自动化演示）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  根据薄弱知识点安排补练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在答卷底部点击“查看补练建议”。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依据知识点表现选择建议练习。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教师可结合学生解释，安排讲解与再次练习。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当前补练为已发布原题的规则回练，不是实时生成的新题，也不自动形成新的学习效果证据。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截图来源：D:/Document/ChuanZhiBei/09-使用说明/操作截图/18-补练建议.png（本机真实操作；隔离数据库中的自动化演示）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  从“我的测评”继续编辑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左侧点击“我的测评”。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根据标题、题数和更新时间选择草稿。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点击“继续编辑”，恢复试卷审核界面。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输入与蓝图暂存在当前标签页；生成后的试卷、已发布快照和答卷存入SQLite。关闭标签页可能清除尚未生成的输入草稿。备份前停止服务并复制data目录，勿公开其中的学生数据。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截图来源：D:/Document/ChuanZhiBei/09-使用说明/操作截图/19-我的测评.png（本机真实操作；隔离数据库中的自动化演示）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 打印与导出各有什么用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打印：生成不含标准答案的学生卷，可在打印窗口另存为PDF。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教师版JSON：包含完整题目、答案与评分标准，用于备份与审查。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成绩CSV：在“答卷与学情”导出，便于表格分析。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教师版JSON含答案，不发给学生。CSV需要结合复核状态理解分数，推荐完成复核后再导出。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截图来源：D:/Document/ChuanZhiBei/09-使用说明/操作截图/20-打印导出.png（本机真实操作；隔离数据库中的自动化演示）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  操作忘记时打开“使用帮助”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随时从左侧进入“使用帮助”。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按教师操作流程检查当前步骤。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说明书文件存在时，页面提供“下载图文使用说明PPT”入口。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该说明书放在09-使用说明目录，与源码目录同级。移动文件时保留目录结构，才能从系统内下载。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截图来源：D:/Document/ChuanZhiBei/09-使用说明/操作截图/21-使用帮助.png（本机真实操作；隔离数据库中的自动化演示）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22  小屏浏览与纵向操作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导航可横向滑动，页面内容纵向阅读。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长蓝图表格在自身区域横向查看。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出题和逐题审核更适合电脑；本截图用于验证390px布局。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手机样式可在浏览器开发工具中查看；当前本机127.0.0.1服务不能直接由另一台手机访问。手机布局验证不等同于跨设备部署验证。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截图来源：D:/Document/ChuanZhiBei/09-使用说明/操作截图/22-手机布局.png（本机真实操作；隔离数据库中的自动化演示）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打不开、登录失败或内容丢失时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打不开网页：重新双击启动CMD，保留窗口中的错误；查看01-应用源码/data/server-error.log。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启动环境：确认Node.js版本至少24。当前启动器直接使用Node.js，不需要start.ps1。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登录失败：检查本机.env的TEACHER_PASSWORD；重启后重新登录。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找不到内容：生成过的试卷到“我的测评”查找；未生成的输入只在原标签页暂存。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端口占用时，启动器会提示。可停止本项目已有实例，或在.env更换PORT。不要结束不属于本项目的进程。模型配置问题留待后续接入时验证。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来源：本项目源码、复现指南及用户提供的赛事原文。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参赛前，还需要补齐哪些材料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稍后接入真实模型：验证真实课程输入、输出约束与失败案例，记录实际效果。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导出至少3个核心功能的完整AI交互链；工程摘要不能替代原始对话。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按原文准备5–8分钟1080p MP4，包含至少2分钟真实AI协同展示。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核实最新赛事要求与仓库评审权限；补充真实教师反馈和新电脑复现记录。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要求依据06-报名与提交清单/赛事要求原文.txt。原文存在日期等冲突，最终以组委会最新通知为准。本说明书不声称作品已满足所有最终提交条件。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来源：本项目源码、复现指南及用户提供的赛事原文。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641f1f281442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2b826d9a9e46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e50c0287044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dc62860b1245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78bf518f246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2c4562d7cb40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CB608C-2866-48E7-9A47-2F233C7474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7DBB01-24F0-48D4-8984-62643746DB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DA6FE49-94BE-49DD-B9FB-6E67BA97C2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A4A43F-02DD-4911-A121-2D72BA724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BE98AC8-3E31-4DF8-A2E5-2889232F80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EAABAD-D523-48C7-A7A6-D30CC4DBAF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440A03-AABE-4954-ACA9-BBDB8EB4F0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11EF47E-C851-4709-9C29-6C5C88B682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0718DC-7FD6-45EE-ADEC-3506D53F92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51774C-2CED-433C-AB71-73637AA460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bc5429ba7c47bd" /><Relationship Type="http://schemas.openxmlformats.org/officeDocument/2006/relationships/slideLayout" Target="/ppt/slideLayouts/slideLayout1.xml" Id="R136b7ac5e53a4ee2" /><Relationship Type="http://schemas.openxmlformats.org/officeDocument/2006/relationships/slideLayout" Target="/ppt/slideLayouts/slideLayout2.xml" Id="Rdcb0a6ba6cb84c0e" /><Relationship Type="http://schemas.openxmlformats.org/officeDocument/2006/relationships/slideLayout" Target="/ppt/slideLayouts/slideLayout3.xml" Id="R2a309a38e035426b" /><Relationship Type="http://schemas.openxmlformats.org/officeDocument/2006/relationships/slideLayout" Target="/ppt/slideLayouts/slideLayout4.xml" Id="Rfd989ab92f004c2d" /><Relationship Type="http://schemas.openxmlformats.org/officeDocument/2006/relationships/slideLayout" Target="/ppt/slideLayouts/slideLayout5.xml" Id="R0e72b845550447ce" /><Relationship Type="http://schemas.openxmlformats.org/officeDocument/2006/relationships/slideLayout" Target="/ppt/slideLayouts/slideLayout6.xml" Id="R6f539d9608af42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6b7ac5e53a4ee2"/>
    <p:sldLayoutId xmlns:r="http://schemas.openxmlformats.org/officeDocument/2006/relationships" id="2147483650" r:id="Rdcb0a6ba6cb84c0e"/>
    <p:sldLayoutId xmlns:r="http://schemas.openxmlformats.org/officeDocument/2006/relationships" id="2147483651" r:id="R2a309a38e035426b"/>
    <p:sldLayoutId xmlns:r="http://schemas.openxmlformats.org/officeDocument/2006/relationships" id="2147483652" r:id="Rfd989ab92f004c2d"/>
    <p:sldLayoutId xmlns:r="http://schemas.openxmlformats.org/officeDocument/2006/relationships" id="2147483653" r:id="R0e72b845550447ce"/>
    <p:sldLayoutId xmlns:r="http://schemas.openxmlformats.org/officeDocument/2006/relationships" id="2147483654" r:id="R6f539d9608af42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20fcf8512343ff" /><Relationship Type="http://schemas.openxmlformats.org/officeDocument/2006/relationships/notesSlide" Target="/ppt/notesSlides/notesSlide1.xml" Id="R991e6db7bf7d43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264b2ec0054063" /><Relationship Type="http://schemas.openxmlformats.org/officeDocument/2006/relationships/notesSlide" Target="/ppt/notesSlides/notesSlide2.xml" Id="Rf0928770e1db41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5fa570c1434970" /><Relationship Type="http://schemas.openxmlformats.org/officeDocument/2006/relationships/notesSlide" Target="/ppt/notesSlides/notesSlide3.xml" Id="Re0ab6d0175ed4a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3fdb01081547e8" /><Relationship Type="http://schemas.openxmlformats.org/officeDocument/2006/relationships/image" Target="/ppt/media/image.png" Id="R8af0ae76c8c04d35" /><Relationship Type="http://schemas.openxmlformats.org/officeDocument/2006/relationships/notesSlide" Target="/ppt/notesSlides/notesSlide4.xml" Id="R5372c6e1c9c44e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03f5179e804623" /><Relationship Type="http://schemas.openxmlformats.org/officeDocument/2006/relationships/image" Target="/ppt/media/image2.png" Id="R54c3860a869b49f1" /><Relationship Type="http://schemas.openxmlformats.org/officeDocument/2006/relationships/notesSlide" Target="/ppt/notesSlides/notesSlide5.xml" Id="R9845155e6e4544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58067d6e0f401e" /><Relationship Type="http://schemas.openxmlformats.org/officeDocument/2006/relationships/image" Target="/ppt/media/image3.png" Id="R6d65e47155734336" /><Relationship Type="http://schemas.openxmlformats.org/officeDocument/2006/relationships/notesSlide" Target="/ppt/notesSlides/notesSlide6.xml" Id="Rf598db531da745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2cd09a3a2f46f8" /><Relationship Type="http://schemas.openxmlformats.org/officeDocument/2006/relationships/image" Target="/ppt/media/image4.png" Id="Rbcc9b6b213b34b59" /><Relationship Type="http://schemas.openxmlformats.org/officeDocument/2006/relationships/notesSlide" Target="/ppt/notesSlides/notesSlide7.xml" Id="R4eefe59aff5647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7c7761be344e43" /><Relationship Type="http://schemas.openxmlformats.org/officeDocument/2006/relationships/image" Target="/ppt/media/image5.png" Id="R0894ef9ce4974e50" /><Relationship Type="http://schemas.openxmlformats.org/officeDocument/2006/relationships/notesSlide" Target="/ppt/notesSlides/notesSlide8.xml" Id="R1ed75d3700094f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6c629785e74ace" /><Relationship Type="http://schemas.openxmlformats.org/officeDocument/2006/relationships/image" Target="/ppt/media/image6.png" Id="Ra747ed6f6ee04351" /><Relationship Type="http://schemas.openxmlformats.org/officeDocument/2006/relationships/notesSlide" Target="/ppt/notesSlides/notesSlide9.xml" Id="Re37b931d5b2347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fdda25b224c8a" /><Relationship Type="http://schemas.openxmlformats.org/officeDocument/2006/relationships/image" Target="/ppt/media/image7.png" Id="Rd746d920770d4f4e" /><Relationship Type="http://schemas.openxmlformats.org/officeDocument/2006/relationships/notesSlide" Target="/ppt/notesSlides/notesSlide10.xml" Id="R710c8a8f5a3645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896064b0774cc5" /><Relationship Type="http://schemas.openxmlformats.org/officeDocument/2006/relationships/image" Target="/ppt/media/image8.png" Id="Rbb94ea74daa048ca" /><Relationship Type="http://schemas.openxmlformats.org/officeDocument/2006/relationships/notesSlide" Target="/ppt/notesSlides/notesSlide11.xml" Id="R4569c463e67e4c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9528ed4a9e4445" /><Relationship Type="http://schemas.openxmlformats.org/officeDocument/2006/relationships/image" Target="/ppt/media/image9.png" Id="R7783ad81ca9e4bd3" /><Relationship Type="http://schemas.openxmlformats.org/officeDocument/2006/relationships/notesSlide" Target="/ppt/notesSlides/notesSlide12.xml" Id="Rd0abf730f57041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7246873a954817" /><Relationship Type="http://schemas.openxmlformats.org/officeDocument/2006/relationships/image" Target="/ppt/media/image10.png" Id="R5843b676f5404eb2" /><Relationship Type="http://schemas.openxmlformats.org/officeDocument/2006/relationships/notesSlide" Target="/ppt/notesSlides/notesSlide13.xml" Id="R2052d1c4dacb49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05e57308294a5f" /><Relationship Type="http://schemas.openxmlformats.org/officeDocument/2006/relationships/image" Target="/ppt/media/image11.png" Id="Rb1bbf1a02eba4107" /><Relationship Type="http://schemas.openxmlformats.org/officeDocument/2006/relationships/notesSlide" Target="/ppt/notesSlides/notesSlide14.xml" Id="R2b5f40e6eff245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c29c774bc84f3a" /><Relationship Type="http://schemas.openxmlformats.org/officeDocument/2006/relationships/image" Target="/ppt/media/image12.png" Id="R2fef11f1c200497c" /><Relationship Type="http://schemas.openxmlformats.org/officeDocument/2006/relationships/notesSlide" Target="/ppt/notesSlides/notesSlide15.xml" Id="R7df8992ae98f4cb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557dc5d96f4bc4" /><Relationship Type="http://schemas.openxmlformats.org/officeDocument/2006/relationships/image" Target="/ppt/media/image13.png" Id="R6d66989224074147" /><Relationship Type="http://schemas.openxmlformats.org/officeDocument/2006/relationships/notesSlide" Target="/ppt/notesSlides/notesSlide16.xml" Id="Rb89b0e313d214a1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4d992a9a44fa4" /><Relationship Type="http://schemas.openxmlformats.org/officeDocument/2006/relationships/image" Target="/ppt/media/image14.png" Id="Re5a67f6c16844547" /><Relationship Type="http://schemas.openxmlformats.org/officeDocument/2006/relationships/notesSlide" Target="/ppt/notesSlides/notesSlide17.xml" Id="R19e239d6718b439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85496f430e497b" /><Relationship Type="http://schemas.openxmlformats.org/officeDocument/2006/relationships/image" Target="/ppt/media/image15.png" Id="R749195e7c35b4a9d" /><Relationship Type="http://schemas.openxmlformats.org/officeDocument/2006/relationships/notesSlide" Target="/ppt/notesSlides/notesSlide18.xml" Id="R5d5094ec4d07453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c94b1a2a564ee6" /><Relationship Type="http://schemas.openxmlformats.org/officeDocument/2006/relationships/image" Target="/ppt/media/image16.png" Id="R950c9f96eb034492" /><Relationship Type="http://schemas.openxmlformats.org/officeDocument/2006/relationships/notesSlide" Target="/ppt/notesSlides/notesSlide19.xml" Id="Re1be7ef461af4be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c22ec5d2564dea" /><Relationship Type="http://schemas.openxmlformats.org/officeDocument/2006/relationships/image" Target="/ppt/media/image17.png" Id="R65724eff645e41d9" /><Relationship Type="http://schemas.openxmlformats.org/officeDocument/2006/relationships/notesSlide" Target="/ppt/notesSlides/notesSlide20.xml" Id="R5614bd897ca6483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6900e4c9cd4a54" /><Relationship Type="http://schemas.openxmlformats.org/officeDocument/2006/relationships/image" Target="/ppt/media/image18.png" Id="Rf0fcf2142d814581" /><Relationship Type="http://schemas.openxmlformats.org/officeDocument/2006/relationships/notesSlide" Target="/ppt/notesSlides/notesSlide21.xml" Id="R19bff40047c048a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8a6fd350674cb7" /><Relationship Type="http://schemas.openxmlformats.org/officeDocument/2006/relationships/image" Target="/ppt/media/image19.png" Id="R8f709c83e13e498b" /><Relationship Type="http://schemas.openxmlformats.org/officeDocument/2006/relationships/notesSlide" Target="/ppt/notesSlides/notesSlide22.xml" Id="R126a619911c44e7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192a4b8bea4541" /><Relationship Type="http://schemas.openxmlformats.org/officeDocument/2006/relationships/image" Target="/ppt/media/image20.png" Id="R92d6ee76ed264a02" /><Relationship Type="http://schemas.openxmlformats.org/officeDocument/2006/relationships/notesSlide" Target="/ppt/notesSlides/notesSlide23.xml" Id="R3d798a38cb8a4ff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b53704b3544f9f" /><Relationship Type="http://schemas.openxmlformats.org/officeDocument/2006/relationships/image" Target="/ppt/media/image21.png" Id="R801257c44ae14e00" /><Relationship Type="http://schemas.openxmlformats.org/officeDocument/2006/relationships/notesSlide" Target="/ppt/notesSlides/notesSlide24.xml" Id="Rc053b874429947f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cdaee7bd3f4486" /><Relationship Type="http://schemas.openxmlformats.org/officeDocument/2006/relationships/image" Target="/ppt/media/image22.png" Id="R76d3b0d46ac74896" /><Relationship Type="http://schemas.openxmlformats.org/officeDocument/2006/relationships/notesSlide" Target="/ppt/notesSlides/notesSlide25.xml" Id="R3411b21315054e7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cd3c672df6471b" /><Relationship Type="http://schemas.openxmlformats.org/officeDocument/2006/relationships/notesSlide" Target="/ppt/notesSlides/notesSlide26.xml" Id="R1070bed31b2f4ac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1f8d2170dc4510" /><Relationship Type="http://schemas.openxmlformats.org/officeDocument/2006/relationships/notesSlide" Target="/ppt/notesSlides/notesSlide27.xml" Id="R92a426c80dd345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5703F98-9C5F-4A89-8E73-A0986A51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62000"/>
            <a:ext cx="1238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AD3C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AAD3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AD3C2"/>
                </a:solidFill>
                <a:latin typeface="Microsoft YaHei"/>
                <a:ea typeface="Microsoft YaHei"/>
                <a:cs typeface="Microsoft YaHei"/>
              </a:rPr>
              <a:t>课纲智评 / 教师工作台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4FF2073-3889-4D46-B25D-88CFADE9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285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课纲智评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0374579-CB95-4124-B949-84717AC0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71875"/>
            <a:ext cx="1238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图文使用说明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D99DFC3-060C-42F0-B218-12EF5BD2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1238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CAE1D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CAE1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AE1D7"/>
                </a:solidFill>
                <a:latin typeface="Microsoft YaHei"/>
                <a:ea typeface="Microsoft YaHei"/>
                <a:cs typeface="Microsoft YaHei"/>
              </a:rPr>
              <a:t>从教学大纲到可复核的测评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E0AE9E5-BA34-4609-8E32-00670C09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238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AE1D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AE1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AE1D7"/>
                </a:solidFill>
                <a:latin typeface="Microsoft YaHei"/>
                <a:ea typeface="Microsoft YaHei"/>
                <a:cs typeface="Microsoft YaHei"/>
              </a:rPr>
              <a:t>v0.2.0 · 教师操作 / 学生作答 / 结果复核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4B1A3CF-2BCD-48AB-A4C5-57593831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34125"/>
            <a:ext cx="1238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AE1D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AE1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AE1D7"/>
                </a:solidFill>
                <a:latin typeface="Microsoft YaHei"/>
                <a:ea typeface="Microsoft YaHei"/>
                <a:cs typeface="Microsoft YaHei"/>
              </a:rPr>
              <a:t>2026年10月 · 本地模板演示版</a:t>
            </a:r>
          </a:p>
        </p:txBody>
      </p:sp>
    </p:spTree>
    <p:extLst>
      <p:ext uri="{BB962C8B-B14F-4D97-AF65-F5344CB8AC3E}">
        <p14:creationId xmlns:p14="http://schemas.microsoft.com/office/powerpoint/2010/main" val="16750189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F245DC5-5321-46EF-B50F-5E696711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32F6A28-B825-460A-8B22-45B81546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第一次使用：启动与登录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21018B4-CB16-4124-A8CD-BC7EE262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准备好 Node.js 24 或更新版本，再打开项目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DF8152C-7A17-4121-AF56-A6E4A602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① 双击根目录“启动课纲智评.cmd”，等待浏览器打开。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EF71EA1-8479-4CCC-A44E-98D68CCD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2427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② 默认地址：http://127.0.0.1:3210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9BE4C88-9198-4B77-B4A1-D5676B05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2442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③ 本地演示密码：teacher-demo-2026。首次生成蓝图时也会提示登录。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6CF6DC5-3BD1-49A2-827D-4FCBCE48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2457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④ 使用完毕双击“停止课纲智评.cmd”。关浏览器不会停止服务。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AB943DA-6977-4E73-A313-09507AB1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414AB09-1759-421B-9259-3EEB20B6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69519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1138088-51B5-47A8-83DD-8DFF5401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043DF59-8643-4F13-AF16-1391A7EB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先用一份示例跑通全过程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FEE92F7-E9D0-4EFC-8D33-FEC77E47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教师确认每个关键步骤，学生只看到作答页面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6E5B0C7-5D97-4C72-B960-AFE2535E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1  输入大纲与考核要求 → 确认教学目标、题型和分值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A8F799E-B61A-4F6D-B165-43003244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2427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2  生成试卷 → 审核题目、答案与简答评分标准 → 发布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D7EC6E3-7645-4910-8120-F21B474A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2442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3  学生作答 → 教师确认简答分值 → 查看学情与补练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8EA5FEA-A859-4A36-B9A9-0A9396DF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2457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模板模式仅覆盖内置“分类模型评价”课程。真实模型按你的安排稍后配置。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0A29C80-0380-43BA-BE1C-3D9BC807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711AD74-CDDA-40FA-ADB9-4789529D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44703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DC49B7D-EC95-4E61-AA8C-E26A53F1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8C4B684-260E-4DEF-B570-E87911C1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01  认识教师工作台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781309D-C7D4-4F5B-AB6E-6AA35C02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首页只保留本次操作需要的信息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1CE8DE4-6A9D-45BC-BE3D-7E3E4081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左侧选择新建测评、我的测评、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答卷与学情。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2E2F4A3-6A77-4AF0-A478-B8458F88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上方三步显示当前进度。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0C602F9-78C8-404A-9BCE-FB88A39F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首页直接填写大纲和考核要求，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点击“生成考核蓝图”。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7AB60-06D0-4FFC-A331-B9574AE530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0ae76c8c04d35"/>
          <a:stretch xmlns:a="http://schemas.openxmlformats.org/drawingml/2006/main"/>
        </p:blipFill>
        <p:spPr>
          <a:xfrm xmlns:a="http://schemas.openxmlformats.org/drawingml/2006/main">
            <a:off x="5529263" y="2238375"/>
            <a:ext cx="82296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4BDB27A-A254-4D13-89D2-B6D3D756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0FA6D21-9441-4E5B-8BAE-EDE69463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01368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4D22525-F74E-46C4-86E3-055EFE8A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FD92BBB-FFB5-452D-827C-D230BF9A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02  导入或粘贴课程大纲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A13E562-8A16-4CCF-B09A-DF3ACAED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建议同时写明教学目标、考核范围和职业情境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CBBAB5F-AEB6-41D6-9727-EB9A6BD8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点击“加载示例”，可恢复内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置课程。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F0E0D18-EB30-491A-9FB3-B96EA9EF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点击“导入TXT / MD”，选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择UTF-8文本文件。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D7CEF8D-7C5E-4891-A92E-945C1082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示例在07-课程样例目录。检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查导入后的文字，再填写考核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要求。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6361A-3E4C-4EB9-89BC-5792323938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3860a869b49f1"/>
          <a:stretch xmlns:a="http://schemas.openxmlformats.org/drawingml/2006/main"/>
        </p:blipFill>
        <p:spPr>
          <a:xfrm xmlns:a="http://schemas.openxmlformats.org/drawingml/2006/main">
            <a:off x="5187411" y="2238375"/>
            <a:ext cx="8913303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1F9C116-AD96-4874-AC09-49349D4D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473241C-2B8E-485D-ADCF-8CE0A21F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02074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3D436C8-DD34-4C8B-B68A-33787B72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34CFDF5-E40B-4939-9925-E6F4F277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03  教师登录后继续生成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EBAC0C3-800F-49D5-B214-5017AB8B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首次点击生成，无需重新找回原操作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8A21DA3-4FD6-4768-9370-3F4F8343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输入教师密码，点击“进入工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作台”。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7ACB091-D6F9-4C75-A135-BF5D0BA2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本地演示密码已在页面提示。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6EA0587-A990-4B68-AC68-D76CA85A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登录成功后自动生成蓝图。密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码不正确时在弹窗中修改后重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试。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CCA85-9B6F-46DE-96FA-11F8CB025F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5e47155734336"/>
          <a:stretch xmlns:a="http://schemas.openxmlformats.org/drawingml/2006/main"/>
        </p:blipFill>
        <p:spPr>
          <a:xfrm xmlns:a="http://schemas.openxmlformats.org/drawingml/2006/main">
            <a:off x="4619625" y="2494990"/>
            <a:ext cx="10048875" cy="5201771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0A603FA-5910-4924-881B-2209E620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D18F00B-01FA-47AF-BE30-D1DEDC08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61124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41A7D74-D544-4400-A4DB-32C0AED8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F54BBAB-DF69-4701-B583-B8BC8DEA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04  核对题型、题数和总分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01250C0-79AB-47B8-9C62-1E0000EF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先决定考什么，再生成题目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36AAAF4-F3ED-4494-8799-C25B2CEF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可修改测评标题、总分，以及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每行题型、题数、单题分值。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2FF75D4-F73E-44BC-B32E-262F1653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每行选择教学目标与认知层次。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BB78027-B758-4E8A-8A6D-06CD8E2A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确认小计之和等于总分，再点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击“生成试卷”。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70932-CF12-439F-B670-783CC9AFF5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9b6b213b34b59"/>
          <a:stretch xmlns:a="http://schemas.openxmlformats.org/drawingml/2006/main"/>
        </p:blipFill>
        <p:spPr>
          <a:xfrm xmlns:a="http://schemas.openxmlformats.org/drawingml/2006/main">
            <a:off x="6427423" y="2238375"/>
            <a:ext cx="6433279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D3D4B25-B79D-4D1B-8B29-20B6414A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D32795A-B639-4D79-A954-DB4B54AB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6232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89491DC-F7D9-4464-ABA4-6E54FBC3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464F451-3707-40BC-A262-59A4889C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05  检查目标与原文依据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87E37C8-83E5-4313-B2A0-7E0E77B2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展开教学目标，确认考核内容没有偏离大纲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2981546-2EE3-49B7-9C53-54E300DA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点击“查看与编辑教学目标及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原文依据”。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EA12D41-6944-4B02-A966-E5A244F1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目标名称可以修改；下方显示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对应的大纲依据。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8DBB927-E644-46AC-933F-34702E71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修改后检查各题型计划的目标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映射，再收起此区域。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BF850-2FBF-430D-9B73-0E79ECE039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4ef9ce4974e50"/>
          <a:stretch xmlns:a="http://schemas.openxmlformats.org/drawingml/2006/main"/>
        </p:blipFill>
        <p:spPr>
          <a:xfrm xmlns:a="http://schemas.openxmlformats.org/drawingml/2006/main">
            <a:off x="4619625" y="3988290"/>
            <a:ext cx="10048875" cy="2215171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CAD227D-76C0-4057-8A24-059CBF90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B6B61CF-3738-440F-82E1-A08227FE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511070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B2816C9-9078-45A1-8B93-005BD469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0E862E1-A2B5-447C-B688-57CC6EA4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06  分值不一致时怎样修正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76A2F4D-47A2-4823-9412-ECC4C381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系统会拒绝生成，并说明具体差额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E9743ED-18CA-4E94-B51E-3F14C96A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截图把一行单题分值从10改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成11，使合计变成102分。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C715307-5D56-4B8F-962B-15CB8197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将该行改回10，或合理调整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其他行，让计划合计与目标总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分一致。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917F4D0-6CC1-44A3-8875-B41C6AC0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再次点击“生成试卷”，无需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重填大纲。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48107-5DB1-401E-B9AB-8EBC6F0452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7ed6f6ee04351"/>
          <a:stretch xmlns:a="http://schemas.openxmlformats.org/drawingml/2006/main"/>
        </p:blipFill>
        <p:spPr>
          <a:xfrm xmlns:a="http://schemas.openxmlformats.org/drawingml/2006/main">
            <a:off x="5529263" y="2238375"/>
            <a:ext cx="82296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5E84392-9739-4603-983B-FB556790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4BB9178-659E-41CF-95F5-65282F4D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933386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4BB08E2-8C58-425C-A917-B614EBAE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49573AB-20A6-4D97-AD12-124B91D4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07  逐题审核，按题号定位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4E375D8-135E-445E-8D74-1C6CC5DC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系统校验通过后，仍由教师判断内容是否适合教学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3FC4C6C-34E2-472A-8738-D6163DD8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右侧题号快速跳到对应题目。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41C3793-BC38-4B03-A47E-B896CF1F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检查题干、目标、分值、公式、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参考答案和解析。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1E4DC0D-8FDF-4F40-8E55-2742B556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点击题目旁“编辑”，修改后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保存。生成试卷已保存在本机。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D7E08-4FC3-4A85-9BD3-DB3F34E740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6d920770d4f4e"/>
          <a:stretch xmlns:a="http://schemas.openxmlformats.org/drawingml/2006/main"/>
        </p:blipFill>
        <p:spPr>
          <a:xfrm xmlns:a="http://schemas.openxmlformats.org/drawingml/2006/main">
            <a:off x="5529263" y="2238375"/>
            <a:ext cx="82296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767C77E-5567-49AB-852C-118098C8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F1C9A77-33DF-44A8-BEB9-689B0AB4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1429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68063A6-F878-471C-BDCC-653301E3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791A4C6-235C-4FB2-A9FE-9CD0F3AA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08  审核公式与参考答案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94E71E2-4828-4680-8323-99F82A33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数值题的公式、答案及容差需要一起检查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4338C9D-5A4D-4F3A-81A6-355E5246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LaTeX由本地KaTeX渲染，离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线也可显示。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1A6E26B-EB61-443B-A894-176026C5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编辑公式时不需要外层美元符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号。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54A3C39-8FA3-414A-9F44-4FD34E1B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非法公式会阻止保存。修改正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确后可继续保存。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283B2-3732-438F-84FA-FC64C05498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4ea74daa048ca"/>
          <a:stretch xmlns:a="http://schemas.openxmlformats.org/drawingml/2006/main"/>
        </p:blipFill>
        <p:spPr>
          <a:xfrm xmlns:a="http://schemas.openxmlformats.org/drawingml/2006/main">
            <a:off x="4619625" y="3572103"/>
            <a:ext cx="10048875" cy="3047544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CE88FEA-6A7F-4FA2-9F04-73AECB37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07ECE24-0391-4239-985D-FECC1B34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50361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B19EA09-AC15-4A38-B64F-4D5D3BAF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76A7E1D-777B-46A3-B176-E64CC9FF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09  用表格填写简答评分标准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D565C80-A47E-405F-B45A-6CACB70C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直接填写评分要点、关键词和分值，无需编辑JSON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CF87794-1DD4-45A4-B2ED-585D3587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每行写一个明确的评分要点。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F69E929-AACA-4CF9-8AD1-F8FCDDC3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匹配关键词用中文或英文逗号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分隔。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BB923D3-6E30-484C-B61C-43578369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各行分值合计须等于本题分值。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向下滚动后点击保存。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2D148-FF93-4288-AD3B-7BE8E994E7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3ad81ca9e4bd3"/>
          <a:stretch xmlns:a="http://schemas.openxmlformats.org/drawingml/2006/main"/>
        </p:blipFill>
        <p:spPr>
          <a:xfrm xmlns:a="http://schemas.openxmlformats.org/drawingml/2006/main">
            <a:off x="4619625" y="2750064"/>
            <a:ext cx="10048875" cy="4691622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3F9DBCD-20DA-4977-8D16-27D452C9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A5D379D-75C6-4161-A83A-54E56F86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002336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732A38D-BEBC-47A3-B104-A117D558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CDD250C-C357-4C59-9F8C-3CF63DA4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10  确认审核，再发布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D6C44E2-070F-4975-AFEB-855C2E37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发布前完成教师确认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7C2C9D3-ABFB-4C24-BD3A-C08214A4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点击“审核并发布”。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8B34737-E6AA-43A5-A3E7-77809568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检查本次试卷信息，勾选审核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确认。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BF2C227-7473-4C68-A1E3-999DE37A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点击发布按钮，生成独立的学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生试卷快照。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29875-95C8-4E5C-B7C6-FA0970E122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3b676f5404eb2"/>
          <a:stretch xmlns:a="http://schemas.openxmlformats.org/drawingml/2006/main"/>
        </p:blipFill>
        <p:spPr>
          <a:xfrm xmlns:a="http://schemas.openxmlformats.org/drawingml/2006/main">
            <a:off x="4619625" y="3159989"/>
            <a:ext cx="10048875" cy="3871772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D4E7094-37F3-407B-9BD5-E43FC099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864EC03-90BB-40F7-91D2-09FB9005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437532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904683C-5EC3-4D7E-99EE-02475A61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913E9F0-2AB3-44DF-98D5-5D7AB27F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11  打开学生作答链接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7CB1B2C-E431-404C-9180-1178ED85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当前版本在本机完成演示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C4E2E66-F6C1-4145-B4A2-10C98BB8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从发布结果中打开学生页面，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或复制链接。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A876632-0F5D-4BD2-9F6D-A5FB9302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也可点击进入学情页面，之后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从那里打开学生页。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22BC590-FB2E-4AC7-9F79-AB57EDA8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127.0.0.1只指向当前电脑；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直接把链接发到另一台设备无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法访问。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D1623-18A7-4BB6-969E-765C55A089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bf1a02eba4107"/>
          <a:stretch xmlns:a="http://schemas.openxmlformats.org/drawingml/2006/main"/>
        </p:blipFill>
        <p:spPr>
          <a:xfrm xmlns:a="http://schemas.openxmlformats.org/drawingml/2006/main">
            <a:off x="4619625" y="2760989"/>
            <a:ext cx="10048875" cy="4669771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9BD925C-D517-49FE-89E2-6FAD43E9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FCD3ED5-4C0A-46B7-A679-DCFDB019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256070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01059F7-878C-4B90-BDFE-327F88C1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4FA6902-B9C2-4F8B-844C-C266C093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12  学生填写昵称并作答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748D103-133D-4965-BC24-AC660B1C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学生页面不提供教师端的答案与编辑入口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D539F48-7C3F-4F6E-A509-6083656D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打开学生链接，填写演示昵称。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BF461D7-DC71-4F35-ABC1-95B0CEB6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单选、判断直接选择；计算题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输入数值；简答题输入文字。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DC9C17C-493C-4B61-A24D-C86F8446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页面底部显示已答题数，便于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检查漏答。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685B9-80A8-4A0D-B8AF-F9AE305693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f11f1c200497c"/>
          <a:stretch xmlns:a="http://schemas.openxmlformats.org/drawingml/2006/main"/>
        </p:blipFill>
        <p:spPr>
          <a:xfrm xmlns:a="http://schemas.openxmlformats.org/drawingml/2006/main">
            <a:off x="5834063" y="2238375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33FBB08-2443-4803-8D7A-1493ACA5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BFA59C4-A196-4B04-8B91-9322A4D4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503289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2DDCEFF-9109-4538-9539-1F2603C9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C105760-E5E4-466B-844C-69ACD48C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13  提交前检查全部题目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DCAD42E-D559-4389-BC13-1C8E3043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确认作答进度达到9 / 9，再提交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80858A5-55F8-4FB8-8A52-FDC780BA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逐题完成后，检查已答题数。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C72849F-44AC-4D58-95E9-B5575BB7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本浏览器会暂存本份未提交答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卷；刷新后可继续。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985780F-FE8B-4EC9-84B3-86CD092F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确认无遗漏，再点击底部提交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按钮。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B88F7-1D02-45BA-B426-B91CD842FD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6989224074147"/>
          <a:stretch xmlns:a="http://schemas.openxmlformats.org/drawingml/2006/main"/>
        </p:blipFill>
        <p:spPr>
          <a:xfrm xmlns:a="http://schemas.openxmlformats.org/drawingml/2006/main">
            <a:off x="5834063" y="2238375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F52672F-B2EB-4AF0-8C56-660D1427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C0EC644-5B55-4C40-919A-78D8F2E8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937134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1EA323A-0408-4227-8E4C-6D0047A3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8394417-E3A4-4A07-8042-5831FCA5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14  看到“答卷已提交”才算完成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84F115F-1B37-49C5-9DE6-2E7A5ABF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提交后查看当前评分状态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E575373-F4CA-427C-9B0F-45647351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页面显示提交结果。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7E99AA1-A1D7-4221-ACED-12E80D3F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客观题按规则评分；包含简答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题时会提示等待教师复核。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C5C14DA-B0B9-41DF-AC58-B5BB9B87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未复核的简答分不应当作最终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成绩。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98C8E-E68A-445C-899E-BB7C66961B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67f6c16844547"/>
          <a:stretch xmlns:a="http://schemas.openxmlformats.org/drawingml/2006/main"/>
        </p:blipFill>
        <p:spPr>
          <a:xfrm xmlns:a="http://schemas.openxmlformats.org/drawingml/2006/main">
            <a:off x="5834063" y="2238375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F901C38-C150-4BF9-B33B-BE8BF7C9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0F6535D-7510-4B71-83CF-F5A79166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905208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C07BACD-4914-4E90-A78A-06F3623D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F375D17-A135-4D71-873E-38D7269C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15  教师查看待复核答卷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0516F4F-8F1D-4C60-A65D-D9D4CF89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进入“答卷与学情”，选择对应测评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F79264C-C20C-4965-9BFA-550F3A58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从下拉框选择已发布的测评。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76D4FCD-CCCC-4105-893A-6F9203C5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学生提交后点击“刷新数据”。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E770F02-4556-4E6D-9E5A-A43143C4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查看“待复核”数量，点击答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卷行的“查看答卷”。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AD9E9-AB11-461B-8893-4DCDAE167C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195e7c35b4a9d"/>
          <a:stretch xmlns:a="http://schemas.openxmlformats.org/drawingml/2006/main"/>
        </p:blipFill>
        <p:spPr>
          <a:xfrm xmlns:a="http://schemas.openxmlformats.org/drawingml/2006/main">
            <a:off x="5529263" y="2238375"/>
            <a:ext cx="82296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5D75293-690F-4F6E-A08D-40A6B29C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FC50535-2422-41F6-88C4-1D0CF1B2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107496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E5227C9-01DC-4049-B409-2F573785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91E0FA1-52F3-4802-9823-4B8C9C5E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16  结合学生推理确认简答分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C1AABFE-A2D1-481E-A5F4-A452D4CA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逐条检查建议分，填写教师确认分值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89D0E1C-AAE6-4183-974C-BB756D2A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向下找到简答题，阅读学生作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答、评分要点及参考答案。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2A502C8-560A-475E-9212-E4EA4D0C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在“教师确认分值”中填写得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分，示例输入18分。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D744C94-1CA6-4668-A80C-7675E7BB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点击答卷底部“保存教师复核”。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F43DA-BED0-43D9-8997-D6193E1272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c9f96eb034492"/>
          <a:stretch xmlns:a="http://schemas.openxmlformats.org/drawingml/2006/main"/>
        </p:blipFill>
        <p:spPr>
          <a:xfrm xmlns:a="http://schemas.openxmlformats.org/drawingml/2006/main">
            <a:off x="4619625" y="3815136"/>
            <a:ext cx="10048875" cy="2561478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DFB8528-E47F-479C-AEB6-F76C9CEB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D7DC69D-6CF4-496A-99AB-759E8145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907198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BA03528-C8CD-4EC9-8CB5-4B3771A7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F407210-3C7F-4F57-87CF-8E91357D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17  查看确认后的学情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3DFF4FA-8409-4051-A4D7-63D6A97E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示例答卷复核后为83 / 100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E200AB1-8960-4E7C-8876-3A5742B7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确认“待复核”减少，状态变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为“已完成”。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22BF94B-6823-40A5-B497-E4ABCD4E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查看已确认均分和各知识点得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分。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DB0C6AC-B082-4269-A635-6FD7EF4C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这些指标描述本次试卷表现，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不等同于经过校准的能力测量。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4B640-ACDE-49A5-BF6D-6809CFB88B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24eff645e41d9"/>
          <a:stretch xmlns:a="http://schemas.openxmlformats.org/drawingml/2006/main"/>
        </p:blipFill>
        <p:spPr>
          <a:xfrm xmlns:a="http://schemas.openxmlformats.org/drawingml/2006/main">
            <a:off x="5529263" y="2238375"/>
            <a:ext cx="82296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99EA070-D478-46B6-967A-84E37A31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F43DFAA-650A-4CF3-BFA2-A921EC24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4655688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B23B0B3-5B7E-42BA-8AE2-7165777C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5A11C74-B484-4D6B-B0BA-C9ECF080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18  根据薄弱知识点安排补练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DD16CDB-4475-4AB7-8783-8F45C7FA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完成复核后，补练入口才可使用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F4519D-4E2A-49DA-AD3D-3B20602D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在答卷底部点击“查看补练建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议”。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8F87FE6-CBA6-4C60-9343-85DF062D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依据知识点表现选择建议练习。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E57BF59-CE4B-4AED-AEF1-9E3FE21C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教师可结合学生解释，安排讲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解与再次练习。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98D15-75B6-4FA0-9CF1-867D618E95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cf2142d814581"/>
          <a:stretch xmlns:a="http://schemas.openxmlformats.org/drawingml/2006/main"/>
        </p:blipFill>
        <p:spPr>
          <a:xfrm xmlns:a="http://schemas.openxmlformats.org/drawingml/2006/main">
            <a:off x="6735230" y="2238375"/>
            <a:ext cx="5817665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28EA5DD-034F-4F86-998E-DCEDD55B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ABB91BB-A47C-4DFA-A434-6A5FD202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1441384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ABF6C65-85B3-401C-A34C-6829D639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343CA1F-833D-4933-992A-665F99E9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19  从“我的测评”继续编辑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7FDFD9D-CA4B-4921-8CF0-DC4D0FE4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生成后的草稿保存在本机数据库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A0EFF29-C479-452C-9706-C2D206A9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左侧点击“我的测评”。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8378E2D-159D-4038-9552-3D6CE5BB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根据标题、题数和更新时间选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择草稿。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AD26976-518E-4DA0-A6E5-4E38C671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点击“继续编辑”，恢复试卷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审核界面。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57F82-549E-4A94-B7A7-726F5F3E7E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09c83e13e498b"/>
          <a:stretch xmlns:a="http://schemas.openxmlformats.org/drawingml/2006/main"/>
        </p:blipFill>
        <p:spPr>
          <a:xfrm xmlns:a="http://schemas.openxmlformats.org/drawingml/2006/main">
            <a:off x="5529263" y="2238375"/>
            <a:ext cx="82296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1DBD061-E81F-47D0-A284-5FD3B9E7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02B68CF-68B3-4508-BEB2-9F087D69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7244927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7BCA0B6-F6BF-40BB-9B50-22549FDB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E70C1B0-55DD-42A7-8F47-5783306C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20  打印与导出各有什么用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1110A64-C83E-4407-A7E3-DFAE6533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试卷审核页展开“打印与导出”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F08C0BE-FB75-4F00-ABC9-072C773A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打印：生成不含标准答案的学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生卷，可在打印窗口另存为P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DF。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C317251-3EE9-4D00-B752-7BDE4E94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教师版JSON：包含完整题目、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答案与评分标准，用于备份与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审查。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15B86C1-9A51-40AC-95C5-B49AB887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成绩CSV：在“答卷与学情”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导出，便于表格分析。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C7466-F208-4B8C-97C5-BFF7B1C825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6ee76ed264a02"/>
          <a:stretch xmlns:a="http://schemas.openxmlformats.org/drawingml/2006/main"/>
        </p:blipFill>
        <p:spPr>
          <a:xfrm xmlns:a="http://schemas.openxmlformats.org/drawingml/2006/main">
            <a:off x="7148002" y="3524250"/>
            <a:ext cx="4944496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52CD241-8AD7-43E2-A564-78AF9951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6689AC4-2EEE-4AB8-80A8-E10250E3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01546285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80B28FE-0C26-4420-B149-B89826E6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755203D-671F-4E60-8CC2-28CD3640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21  操作忘记时打开“使用帮助”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6C15738-AD98-4CF6-809D-2C439C5B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系统内也提供流程、保存规则与模式说明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FD9812E-C992-408F-95E4-F64D5364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随时从左侧进入“使用帮助”。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81A8980-E499-4F92-B87D-1128DF89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按教师操作流程检查当前步骤。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C2E9800-6CC4-4B22-A60B-E183D485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说明书文件存在时，页面提供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“下载图文使用说明PPT”入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口。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DB8E6-284B-4ECB-85CD-6A836D83E5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257c44ae14e00"/>
          <a:stretch xmlns:a="http://schemas.openxmlformats.org/drawingml/2006/main"/>
        </p:blipFill>
        <p:spPr>
          <a:xfrm xmlns:a="http://schemas.openxmlformats.org/drawingml/2006/main">
            <a:off x="5529263" y="2238375"/>
            <a:ext cx="82296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D9AC5D4-1686-4307-AB77-16A052E3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E8C71A2-467D-492F-AFD8-316C4E48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2591092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795EF2E-2DE3-4700-9AEA-8A394134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51330A7-A605-4D73-9BDB-2595C8D8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22  小屏浏览与纵向操作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DCC6A32-2261-47C6-903C-25226903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窄屏会调整导航和内容布局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E36A2AD-5E29-412B-A22F-D87E7DC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导航可横向滑动，页面内容纵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向阅读。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EFE0211-1714-42DF-9A73-17644B5E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长蓝图表格在自身区域横向查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看。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DED87CC-39CE-459C-A620-156708F8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905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出题和逐题审核更适合电脑；</a:t>
            </a:r>
          </a:p>
          <a:p xmlns:a="http://schemas.openxmlformats.org/drawingml/2006/main">
            <a:pPr>
              <a:def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本截图用于验证390px布局。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16299-C647-4961-A92E-AE35260511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3b0d46ac74896"/>
          <a:stretch xmlns:a="http://schemas.openxmlformats.org/drawingml/2006/main"/>
        </p:blipFill>
        <p:spPr>
          <a:xfrm xmlns:a="http://schemas.openxmlformats.org/drawingml/2006/main">
            <a:off x="8323654" y="2238375"/>
            <a:ext cx="2640818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11E1A14-EA1E-485E-B18F-209ADD77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17F4021-7DC2-44CF-920B-8F232E9B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474927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1381BB8-B083-4483-B4BC-155B28AE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9E0C32C-90C6-4810-B060-C0757029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打不开、登录失败或内容丢失时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2C4A25B-82C3-4466-AAD9-E89FC205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先按具体症状排查，不修改杀毒软件设置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A235E00-2FBC-41A1-ADC5-115CEBC6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打不开网页：重新双击启动CMD，保留窗口中的错误；查看01-应用源码/data/server-error.log。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1D9CDB2-1BBC-401B-9E16-CB87CCAE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2427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启动环境：确认Node.js版本至少24。当前启动器直接使用Node.js，不需要start.ps1。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C96C5BF-9737-434D-AB23-6CB5DBE4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2442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登录失败：检查本机.env的TEACHER_PASSWORD；重启后重新登录。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FBF81C4-AD7B-486D-9261-D2CD6229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2457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找不到内容：生成过的试卷到“我的测评”查找；未生成的输入只在原标签页暂存。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25F5E81-4BC7-43C8-BA1C-BF8F1D8B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58F7F69-4F1A-403D-BB6B-86D4767A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4869805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01357AD-46AD-47A4-9DB8-4C0100E6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90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8275"/>
                </a:solidFill>
                <a:latin typeface="Microsoft YaHei"/>
                <a:ea typeface="Microsoft YaHei"/>
                <a:cs typeface="Microsoft YaHei"/>
              </a:rPr>
              <a:t>课纲智评  /  图文使用说明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D4DC59C-738F-44DA-AF9D-92632230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4001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3E35"/>
                </a:solidFill>
                <a:latin typeface="Microsoft YaHei"/>
                <a:ea typeface="Microsoft YaHei"/>
                <a:cs typeface="Microsoft YaHei"/>
              </a:rPr>
              <a:t>参赛前，还需要补齐哪些材料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CD1E0BA-3E6A-494C-A8A5-AAB6C0E6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381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76E"/>
                </a:solidFill>
                <a:latin typeface="Microsoft YaHei"/>
                <a:ea typeface="Microsoft YaHei"/>
                <a:cs typeface="Microsoft YaHei"/>
              </a:rPr>
              <a:t>软件与说明书已迭代；提交材料仍要逐项核实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46EC08F-2080-48A3-B13C-30B34CB7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稍后接入真实模型：验证真实课程输入、输出约束与失败案例，记录实际效果。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E60EE34-5786-4CE6-AD1C-70174152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2427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导出至少3个核心功能的完整AI交互链；工程摘要不能替代原始对话。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0FDC365-0AD1-448E-A6E4-9EDCE46D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2442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按原文准备5–8分钟1080p MP4，包含至少2分钟真实AI协同展示。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3B152D9-7CD4-4CDC-96AA-815BB40C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24575"/>
            <a:ext cx="1333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3463F"/>
                </a:solidFill>
                <a:latin typeface="Microsoft YaHei"/>
                <a:ea typeface="Microsoft YaHei"/>
                <a:cs typeface="Microsoft YaHei"/>
              </a:rPr>
              <a:t>核实最新赛事要求与仓库评审权限；补充真实教师反馈和新电脑复现记录。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F0957DE-E1DC-492E-B8DB-62E9928F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62925"/>
            <a:ext cx="1247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3"/>
                </a:solidFill>
                <a:latin typeface="Microsoft YaHei"/>
                <a:ea typeface="Microsoft YaHei"/>
                <a:cs typeface="Microsoft YaHei"/>
              </a:rPr>
              <a:t>v0.2.0 · 本地模板演示 · 操作细节见本页备注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ED8B1F2-CFE2-4A8F-9C94-B7EB23D1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A7661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971112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2026-10-13T04:58:36.5640000Z</dcterms:created>
  <dcterms:modified xsi:type="dcterms:W3CDTF">2026-10-13T04:58:36.5640000Z</dcterms:modified>
</coreProperties>
</file>